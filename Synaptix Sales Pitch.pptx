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117" d="100"/>
          <a:sy n="117" d="100"/>
        </p:scale>
        <p:origin x="80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5AB50-1214-3E7B-624C-9A761E91E8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386A68-919B-DE1F-828F-75C1593122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0D25FD-CF28-B1E4-0B0C-6AD2D5A22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1A063-94E5-304D-BF73-AB827E29EEA2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6F43B3-C247-2325-FCDC-1A008C265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F56E10-EDE3-FCB7-D454-43A6BBE0F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DB85E-88CB-D041-B8E7-561DDDC07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011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54D4D-843E-46BC-9392-0105E33E0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F3F0FB-964A-235B-3222-85144AC42D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1FBB9F-A6D6-CCA5-00A0-49AB6F42D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1A063-94E5-304D-BF73-AB827E29EEA2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DF8857-6B78-FF1B-9ECE-AA7DB5DDB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12DAF1-D681-F871-0282-35728282F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DB85E-88CB-D041-B8E7-561DDDC07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382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EBE51-C26A-B19F-F20C-4BFF1DE9C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801555-1152-229A-D4FC-A70D19AB40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94388-9A8C-7E3C-07DB-7B76C13B0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1A063-94E5-304D-BF73-AB827E29EEA2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B23D89-B7E1-2EAD-513E-C57A02054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1F187-9C89-F525-C1EA-51601BB89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DB85E-88CB-D041-B8E7-561DDDC07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207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CB849-7DFC-B513-7D10-D9B29E8E3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5B905C-3D90-AE75-FA67-A10AFD18F2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64B4E7-EC39-A1EB-732C-14FF3A9143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7B27A9-130B-0CBD-E918-2F15594F7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1A063-94E5-304D-BF73-AB827E29EEA2}" type="datetimeFigureOut">
              <a:rPr lang="en-US" smtClean="0"/>
              <a:t>3/2/26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31C7D4-FE5D-C4E5-86D8-4336D0184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31FB29-C0F0-20E2-D7B9-CEE5724B7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DB85E-88CB-D041-B8E7-561DDDC07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836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62F6A-65BF-94C6-F3C0-4C54DC636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F5D5E1-285E-7B78-86BD-4D0D34C729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B2B83C-BE09-ECEB-4980-BF4AC9D480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0B8D7F-0EAF-7047-0DD9-4F8458DF83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7CB345-9DD6-AEE8-A7C2-34B30C6868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88A979-EE05-4433-8D67-68D519A40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1A063-94E5-304D-BF73-AB827E29EEA2}" type="datetimeFigureOut">
              <a:rPr lang="en-US" smtClean="0"/>
              <a:t>3/2/26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73903B-C9D2-28FE-F17A-FDCC53E14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975BB3-226A-A5CF-FCE4-CB2D38BDB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DB85E-88CB-D041-B8E7-561DDDC07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352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3D89A-E6CE-449C-3E4A-A86337661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7B3754-98B0-7D4F-9A79-1D5EA9681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1A063-94E5-304D-BF73-AB827E29EEA2}" type="datetimeFigureOut">
              <a:rPr lang="en-US" smtClean="0"/>
              <a:t>3/2/26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8B7F5B-1970-00AD-6540-07217AFA8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EE63A6-3775-6565-254A-4770ABF16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DB85E-88CB-D041-B8E7-561DDDC07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127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046693-D6B4-7D19-DF5B-BE9D8185B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1A063-94E5-304D-BF73-AB827E29EEA2}" type="datetimeFigureOut">
              <a:rPr lang="en-US" smtClean="0"/>
              <a:t>3/2/26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F83526-B644-92B8-E26D-35DC23695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DAA4B-6088-FB80-7297-74F27868A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DB85E-88CB-D041-B8E7-561DDDC07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366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AF7DA-2B2A-A1DE-B84C-3730C0F3F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4522D-18D3-E599-A899-DF840AF6E2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315760-29A7-2A55-6CE2-712DAEA600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F5839B-203D-ECDC-052B-652F12C93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1A063-94E5-304D-BF73-AB827E29EEA2}" type="datetimeFigureOut">
              <a:rPr lang="en-US" smtClean="0"/>
              <a:t>3/2/26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8018D5-71E0-8CCE-6BC3-AFC06A489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8EA58C-9B72-EB25-027E-28B09708C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DB85E-88CB-D041-B8E7-561DDDC07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422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D9B9A-251F-438F-AD50-22A78600B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340B25-6488-ECF2-36E7-54D28BCD1F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0470B9-F006-E323-EF21-8C8EE687FC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DDEF08-4927-82E2-6EAF-ECE9DE2C9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1A063-94E5-304D-BF73-AB827E29EEA2}" type="datetimeFigureOut">
              <a:rPr lang="en-US" smtClean="0"/>
              <a:t>3/2/26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F47E64-647C-C047-3F98-FE16AFBD5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A74A0E-9036-FD03-DDBA-78705053D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DB85E-88CB-D041-B8E7-561DDDC07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142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75F97-4C42-F279-CE73-40B007A80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F868F5-EA45-C6BE-9EDE-D368134E5F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4B2E71-A473-409A-061D-306548720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1A063-94E5-304D-BF73-AB827E29EEA2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41AD9D-0FFE-008A-F4F7-BC6703DE9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AB57F4-196C-B3D5-12DA-BEA10E8FA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DB85E-88CB-D041-B8E7-561DDDC07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4232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BFBA89-E662-3599-79F9-6DB40CD272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711FDF-12E7-12C9-7F73-4CF20FFC0A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0E831F-E01A-2B85-6D92-038450977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1A063-94E5-304D-BF73-AB827E29EEA2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DCA38-4D26-9EE4-38FB-81FCDBBB9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D793CD-3795-3A0E-5E4C-D7E737862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DB85E-88CB-D041-B8E7-561DDDC07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182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104595-008F-ADEB-1A97-76CEE712A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17C785-13EA-43A2-2011-A4BA8423F3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6F57A1-DFB4-6E69-2C01-D516DADD36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41A063-94E5-304D-BF73-AB827E29EEA2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5E6DA2-677D-B22C-6440-F119F8FFB7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0EC231-988B-8D61-27E5-95CE95A65C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2DB85E-88CB-D041-B8E7-561DDDC07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063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41">
            <a:extLst>
              <a:ext uri="{FF2B5EF4-FFF2-40B4-BE49-F238E27FC236}">
                <a16:creationId xmlns:a16="http://schemas.microsoft.com/office/drawing/2014/main" id="{08265597-419A-E981-7F3E-6C374FAE3A8D}"/>
              </a:ext>
            </a:extLst>
          </p:cNvPr>
          <p:cNvSpPr/>
          <p:nvPr/>
        </p:nvSpPr>
        <p:spPr>
          <a:xfrm>
            <a:off x="2633946" y="4753430"/>
            <a:ext cx="6700320" cy="980284"/>
          </a:xfrm>
          <a:prstGeom prst="rect">
            <a:avLst/>
          </a:prstGeom>
          <a:solidFill>
            <a:srgbClr val="E8F4FD"/>
          </a:solidFill>
          <a:ln w="12700">
            <a:solidFill>
              <a:srgbClr val="BFD9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8B4F79-7FF6-3ED7-4259-53971F8A8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310798" cy="1477328"/>
          </a:xfrm>
          <a:prstGeom prst="rect">
            <a:avLst/>
          </a:prstGeom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3CBF676-C8FB-8519-77BD-906CC74555EC}"/>
              </a:ext>
            </a:extLst>
          </p:cNvPr>
          <p:cNvSpPr txBox="1"/>
          <p:nvPr/>
        </p:nvSpPr>
        <p:spPr>
          <a:xfrm>
            <a:off x="8391647" y="109737"/>
            <a:ext cx="3707754" cy="1077218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✔ Monthly Neuropsychology Assessments</a:t>
            </a:r>
            <a:br>
              <a:rPr lang="en-US" sz="1600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✔ Weekly Digital Symptom Tracking</a:t>
            </a:r>
            <a:br>
              <a:rPr lang="en-US" sz="1600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✔ Computerized Cognitive Therapy</a:t>
            </a:r>
          </a:p>
          <a:p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✔ Comprehensive Evaluations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8961ED-0B9B-C520-9696-0F0D29FBC035}"/>
              </a:ext>
            </a:extLst>
          </p:cNvPr>
          <p:cNvSpPr txBox="1"/>
          <p:nvPr/>
        </p:nvSpPr>
        <p:spPr>
          <a:xfrm>
            <a:off x="3310798" y="534516"/>
            <a:ext cx="4872943" cy="646331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i="1" dirty="0">
                <a:solidFill>
                  <a:schemeClr val="accent1">
                    <a:lumMod val="50000"/>
                  </a:schemeClr>
                </a:solidFill>
              </a:rPr>
              <a:t>Built for Neurosurgery, Orthopedic &amp;</a:t>
            </a:r>
          </a:p>
          <a:p>
            <a:pPr algn="ctr"/>
            <a:r>
              <a:rPr lang="en-US" i="1" dirty="0">
                <a:solidFill>
                  <a:schemeClr val="accent1">
                    <a:lumMod val="50000"/>
                  </a:schemeClr>
                </a:solidFill>
              </a:rPr>
              <a:t>Sports Medicine Practices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23BA4B3-459B-02F4-8F6A-F93BEF024857}"/>
              </a:ext>
            </a:extLst>
          </p:cNvPr>
          <p:cNvSpPr/>
          <p:nvPr/>
        </p:nvSpPr>
        <p:spPr>
          <a:xfrm>
            <a:off x="215992" y="1322252"/>
            <a:ext cx="4286563" cy="2471452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Why Orthopedic Practices Should Add a Concussion Program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Capture </a:t>
            </a:r>
            <a:r>
              <a:rPr lang="en-US" sz="1400" b="1" dirty="0"/>
              <a:t>post-injury concussion cases</a:t>
            </a:r>
            <a:r>
              <a:rPr lang="en-US" sz="1400" dirty="0"/>
              <a:t> already entering your practice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Provide </a:t>
            </a:r>
            <a:r>
              <a:rPr lang="en-US" sz="1400" b="1" dirty="0"/>
              <a:t>structured 12-week recovery pathway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Improve outcomes with objective neurocognitive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Differentiate your practice in sports &amp; trauma markets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E446C777-D738-AC7F-EA9A-21D6A8217599}"/>
              </a:ext>
            </a:extLst>
          </p:cNvPr>
          <p:cNvSpPr/>
          <p:nvPr/>
        </p:nvSpPr>
        <p:spPr>
          <a:xfrm>
            <a:off x="4572453" y="1322253"/>
            <a:ext cx="3942275" cy="2471452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Revenue-Generating, Fully Billable Workflow</a:t>
            </a:r>
          </a:p>
          <a:p>
            <a:r>
              <a:rPr lang="en-US" sz="1400" b="1" dirty="0"/>
              <a:t>Initial Visit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E&amp;M Coding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Neuropsychology Testing</a:t>
            </a:r>
          </a:p>
          <a:p>
            <a:r>
              <a:rPr lang="en-US" sz="1400" b="1" dirty="0"/>
              <a:t>Feedback Visit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Neuropsychology Interpretation</a:t>
            </a:r>
          </a:p>
          <a:p>
            <a:r>
              <a:rPr lang="en-US" sz="1400" b="1" dirty="0"/>
              <a:t>Ongoing Care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Digital Monitoring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Cognitive Remediation therapy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Re-evaluation every 12 weeks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16A353B0-9593-36EA-E9AF-30C4942AA55C}"/>
              </a:ext>
            </a:extLst>
          </p:cNvPr>
          <p:cNvSpPr/>
          <p:nvPr/>
        </p:nvSpPr>
        <p:spPr>
          <a:xfrm>
            <a:off x="8573053" y="1322253"/>
            <a:ext cx="3460830" cy="2471452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What This Means for Your Practice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Creates </a:t>
            </a:r>
            <a:r>
              <a:rPr lang="en-US" sz="1400" b="1" dirty="0"/>
              <a:t>recurring patient engagement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Adds structured concussion specialty service line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Expands scope without hiring full-time Neuropsychology staff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Improves compliance, documentation, and defensibility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0D09ACB-236F-39EE-052E-819CAF7EA664}"/>
              </a:ext>
            </a:extLst>
          </p:cNvPr>
          <p:cNvSpPr txBox="1"/>
          <p:nvPr/>
        </p:nvSpPr>
        <p:spPr>
          <a:xfrm>
            <a:off x="215992" y="3852070"/>
            <a:ext cx="4286562" cy="830997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i="1" dirty="0">
                <a:solidFill>
                  <a:schemeClr val="accent1">
                    <a:lumMod val="50000"/>
                  </a:schemeClr>
                </a:solidFill>
              </a:rPr>
              <a:t>Software automates patient engagement through digital tool that generate billable reports with outcome data.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7D11A63-36B3-D903-85DE-5489993101E9}"/>
              </a:ext>
            </a:extLst>
          </p:cNvPr>
          <p:cNvSpPr txBox="1"/>
          <p:nvPr/>
        </p:nvSpPr>
        <p:spPr>
          <a:xfrm>
            <a:off x="7689445" y="3852069"/>
            <a:ext cx="4286563" cy="830997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i="1" dirty="0">
                <a:solidFill>
                  <a:schemeClr val="accent1">
                    <a:lumMod val="50000"/>
                  </a:schemeClr>
                </a:solidFill>
              </a:rPr>
              <a:t>Revenue: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1 patient = $1,500 - $5,000 per year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1 patient/week = $78,000 - $260,000 per year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A24FCFD-2748-3882-AB93-BE835B559398}"/>
              </a:ext>
            </a:extLst>
          </p:cNvPr>
          <p:cNvSpPr txBox="1"/>
          <p:nvPr/>
        </p:nvSpPr>
        <p:spPr>
          <a:xfrm>
            <a:off x="4594642" y="3852070"/>
            <a:ext cx="3031167" cy="830997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i="1" dirty="0">
                <a:solidFill>
                  <a:schemeClr val="accent1">
                    <a:lumMod val="50000"/>
                  </a:schemeClr>
                </a:solidFill>
              </a:rPr>
              <a:t>Low Start-Up Costs: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Provider (MD/DO/NP)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Computer Workstation</a:t>
            </a:r>
          </a:p>
        </p:txBody>
      </p:sp>
      <p:sp>
        <p:nvSpPr>
          <p:cNvPr id="23" name="Text 42">
            <a:extLst>
              <a:ext uri="{FF2B5EF4-FFF2-40B4-BE49-F238E27FC236}">
                <a16:creationId xmlns:a16="http://schemas.microsoft.com/office/drawing/2014/main" id="{82912C0A-410A-B221-A5CD-58E3725EB54D}"/>
              </a:ext>
            </a:extLst>
          </p:cNvPr>
          <p:cNvSpPr/>
          <p:nvPr/>
        </p:nvSpPr>
        <p:spPr>
          <a:xfrm>
            <a:off x="2726546" y="4911581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77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r>
              <a:rPr lang="en-US" sz="1400" b="1" dirty="0">
                <a:solidFill>
                  <a:srgbClr val="0077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1600" b="1" dirty="0">
                <a:solidFill>
                  <a:srgbClr val="0077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Billable</a:t>
            </a:r>
            <a:endParaRPr lang="en-US" sz="1600" dirty="0"/>
          </a:p>
        </p:txBody>
      </p:sp>
      <p:sp>
        <p:nvSpPr>
          <p:cNvPr id="24" name="Text 43">
            <a:extLst>
              <a:ext uri="{FF2B5EF4-FFF2-40B4-BE49-F238E27FC236}">
                <a16:creationId xmlns:a16="http://schemas.microsoft.com/office/drawing/2014/main" id="{6FC1A400-8599-16E3-A86A-DD03DEC719BE}"/>
              </a:ext>
            </a:extLst>
          </p:cNvPr>
          <p:cNvSpPr/>
          <p:nvPr/>
        </p:nvSpPr>
        <p:spPr>
          <a:xfrm>
            <a:off x="2726546" y="519439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types per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cycle</a:t>
            </a:r>
            <a:endParaRPr lang="en-US" sz="1200" dirty="0"/>
          </a:p>
        </p:txBody>
      </p:sp>
      <p:sp>
        <p:nvSpPr>
          <p:cNvPr id="25" name="Shape 44">
            <a:extLst>
              <a:ext uri="{FF2B5EF4-FFF2-40B4-BE49-F238E27FC236}">
                <a16:creationId xmlns:a16="http://schemas.microsoft.com/office/drawing/2014/main" id="{8599790D-A1A0-CD24-42F9-F514ED2AF0DE}"/>
              </a:ext>
            </a:extLst>
          </p:cNvPr>
          <p:cNvSpPr/>
          <p:nvPr/>
        </p:nvSpPr>
        <p:spPr>
          <a:xfrm>
            <a:off x="4131507" y="4952364"/>
            <a:ext cx="13716" cy="621792"/>
          </a:xfrm>
          <a:prstGeom prst="rect">
            <a:avLst/>
          </a:prstGeom>
          <a:solidFill>
            <a:srgbClr val="BFD9EE"/>
          </a:solidFill>
          <a:ln w="12700">
            <a:solidFill>
              <a:srgbClr val="BFD9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45">
            <a:extLst>
              <a:ext uri="{FF2B5EF4-FFF2-40B4-BE49-F238E27FC236}">
                <a16:creationId xmlns:a16="http://schemas.microsoft.com/office/drawing/2014/main" id="{2AE1E33B-F78A-7ED6-91FE-A1031CDF966E}"/>
              </a:ext>
            </a:extLst>
          </p:cNvPr>
          <p:cNvSpPr/>
          <p:nvPr/>
        </p:nvSpPr>
        <p:spPr>
          <a:xfrm>
            <a:off x="4406116" y="4911581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77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12 - Week</a:t>
            </a:r>
            <a:endParaRPr lang="en-US" sz="1600" dirty="0"/>
          </a:p>
        </p:txBody>
      </p:sp>
      <p:sp>
        <p:nvSpPr>
          <p:cNvPr id="27" name="Text 46">
            <a:extLst>
              <a:ext uri="{FF2B5EF4-FFF2-40B4-BE49-F238E27FC236}">
                <a16:creationId xmlns:a16="http://schemas.microsoft.com/office/drawing/2014/main" id="{2665C08A-D27A-FE08-474A-78115B9302AE}"/>
              </a:ext>
            </a:extLst>
          </p:cNvPr>
          <p:cNvSpPr/>
          <p:nvPr/>
        </p:nvSpPr>
        <p:spPr>
          <a:xfrm>
            <a:off x="4394541" y="519439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program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cycles</a:t>
            </a:r>
            <a:endParaRPr lang="en-US" sz="1200" dirty="0"/>
          </a:p>
        </p:txBody>
      </p:sp>
      <p:sp>
        <p:nvSpPr>
          <p:cNvPr id="28" name="Shape 47">
            <a:extLst>
              <a:ext uri="{FF2B5EF4-FFF2-40B4-BE49-F238E27FC236}">
                <a16:creationId xmlns:a16="http://schemas.microsoft.com/office/drawing/2014/main" id="{FBF2F07A-F8A4-4B91-2F6D-A3A02352936D}"/>
              </a:ext>
            </a:extLst>
          </p:cNvPr>
          <p:cNvSpPr/>
          <p:nvPr/>
        </p:nvSpPr>
        <p:spPr>
          <a:xfrm>
            <a:off x="5847280" y="4952364"/>
            <a:ext cx="13716" cy="621792"/>
          </a:xfrm>
          <a:prstGeom prst="rect">
            <a:avLst/>
          </a:prstGeom>
          <a:solidFill>
            <a:srgbClr val="BFD9EE"/>
          </a:solidFill>
          <a:ln w="12700">
            <a:solidFill>
              <a:srgbClr val="BFD9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48">
            <a:extLst>
              <a:ext uri="{FF2B5EF4-FFF2-40B4-BE49-F238E27FC236}">
                <a16:creationId xmlns:a16="http://schemas.microsoft.com/office/drawing/2014/main" id="{1EA65236-0B86-B16D-31DE-44355F1C8E4A}"/>
              </a:ext>
            </a:extLst>
          </p:cNvPr>
          <p:cNvSpPr/>
          <p:nvPr/>
        </p:nvSpPr>
        <p:spPr>
          <a:xfrm>
            <a:off x="6026283" y="4911581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77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Zero</a:t>
            </a:r>
            <a:endParaRPr lang="en-US" sz="1600" dirty="0"/>
          </a:p>
        </p:txBody>
      </p:sp>
      <p:sp>
        <p:nvSpPr>
          <p:cNvPr id="30" name="Text 49">
            <a:extLst>
              <a:ext uri="{FF2B5EF4-FFF2-40B4-BE49-F238E27FC236}">
                <a16:creationId xmlns:a16="http://schemas.microsoft.com/office/drawing/2014/main" id="{6A8383FD-7695-4B4A-7C52-E139AA2B006D}"/>
              </a:ext>
            </a:extLst>
          </p:cNvPr>
          <p:cNvSpPr/>
          <p:nvPr/>
        </p:nvSpPr>
        <p:spPr>
          <a:xfrm>
            <a:off x="6026283" y="519439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clinical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required</a:t>
            </a:r>
            <a:endParaRPr lang="en-US" sz="1200" dirty="0"/>
          </a:p>
        </p:txBody>
      </p:sp>
      <p:sp>
        <p:nvSpPr>
          <p:cNvPr id="31" name="Shape 50">
            <a:extLst>
              <a:ext uri="{FF2B5EF4-FFF2-40B4-BE49-F238E27FC236}">
                <a16:creationId xmlns:a16="http://schemas.microsoft.com/office/drawing/2014/main" id="{F16A600B-E915-1C54-6639-2269E392240F}"/>
              </a:ext>
            </a:extLst>
          </p:cNvPr>
          <p:cNvSpPr/>
          <p:nvPr/>
        </p:nvSpPr>
        <p:spPr>
          <a:xfrm>
            <a:off x="7489119" y="4952364"/>
            <a:ext cx="13716" cy="621792"/>
          </a:xfrm>
          <a:prstGeom prst="rect">
            <a:avLst/>
          </a:prstGeom>
          <a:solidFill>
            <a:srgbClr val="BFD9EE"/>
          </a:solidFill>
          <a:ln w="12700">
            <a:solidFill>
              <a:srgbClr val="BFD9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51">
            <a:extLst>
              <a:ext uri="{FF2B5EF4-FFF2-40B4-BE49-F238E27FC236}">
                <a16:creationId xmlns:a16="http://schemas.microsoft.com/office/drawing/2014/main" id="{778D05AA-37EE-81B2-75DF-EED1ED9A8A51}"/>
              </a:ext>
            </a:extLst>
          </p:cNvPr>
          <p:cNvSpPr/>
          <p:nvPr/>
        </p:nvSpPr>
        <p:spPr>
          <a:xfrm>
            <a:off x="7542275" y="4911581"/>
            <a:ext cx="1745691" cy="294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77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</a:t>
            </a:r>
            <a:r>
              <a:rPr lang="en-US" sz="1300" b="1" dirty="0">
                <a:solidFill>
                  <a:srgbClr val="0077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1600" b="1" dirty="0">
                <a:solidFill>
                  <a:srgbClr val="0077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Referrals</a:t>
            </a:r>
            <a:endParaRPr lang="en-US" sz="1600" dirty="0"/>
          </a:p>
        </p:txBody>
      </p:sp>
      <p:sp>
        <p:nvSpPr>
          <p:cNvPr id="33" name="Text 52">
            <a:extLst>
              <a:ext uri="{FF2B5EF4-FFF2-40B4-BE49-F238E27FC236}">
                <a16:creationId xmlns:a16="http://schemas.microsoft.com/office/drawing/2014/main" id="{C19B40AC-EC29-15C9-FE0B-C092096F0F7A}"/>
              </a:ext>
            </a:extLst>
          </p:cNvPr>
          <p:cNvSpPr/>
          <p:nvPr/>
        </p:nvSpPr>
        <p:spPr>
          <a:xfrm>
            <a:off x="7775040" y="519439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— keep patients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practice</a:t>
            </a:r>
            <a:endParaRPr lang="en-US" sz="12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B17BF11-0809-34B8-E8FF-D2DE2593101F}"/>
              </a:ext>
            </a:extLst>
          </p:cNvPr>
          <p:cNvSpPr txBox="1"/>
          <p:nvPr/>
        </p:nvSpPr>
        <p:spPr>
          <a:xfrm>
            <a:off x="1598873" y="5804071"/>
            <a:ext cx="8854820" cy="830997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i="1" dirty="0">
                <a:solidFill>
                  <a:schemeClr val="accent1">
                    <a:lumMod val="50000"/>
                  </a:schemeClr>
                </a:solidFill>
              </a:rPr>
              <a:t>30-day trial to see if the software can help build your concussion practice from existing patients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i="1" dirty="0">
                <a:solidFill>
                  <a:schemeClr val="accent1">
                    <a:lumMod val="50000"/>
                  </a:schemeClr>
                </a:solidFill>
              </a:rPr>
              <a:t>Monthly License Fee based on Volume of Patients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i="1" dirty="0">
                <a:solidFill>
                  <a:schemeClr val="accent1">
                    <a:lumMod val="50000"/>
                  </a:schemeClr>
                </a:solidFill>
              </a:rPr>
              <a:t>Get started with your own program with short training and easy start-up process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C7436D3-BDCC-4E9F-1B31-67FE0B9DE23E}"/>
              </a:ext>
            </a:extLst>
          </p:cNvPr>
          <p:cNvSpPr txBox="1"/>
          <p:nvPr/>
        </p:nvSpPr>
        <p:spPr>
          <a:xfrm>
            <a:off x="3310798" y="116887"/>
            <a:ext cx="4872943" cy="338554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i="1" dirty="0">
                <a:solidFill>
                  <a:schemeClr val="accent1">
                    <a:lumMod val="50000"/>
                  </a:schemeClr>
                </a:solidFill>
              </a:rPr>
              <a:t>Software Concussion Management Tool</a:t>
            </a:r>
          </a:p>
        </p:txBody>
      </p:sp>
    </p:spTree>
    <p:extLst>
      <p:ext uri="{BB962C8B-B14F-4D97-AF65-F5344CB8AC3E}">
        <p14:creationId xmlns:p14="http://schemas.microsoft.com/office/powerpoint/2010/main" val="15832711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773</TotalTime>
  <Words>241</Words>
  <Application>Microsoft Macintosh PowerPoint</Application>
  <PresentationFormat>Widescreen</PresentationFormat>
  <Paragraphs>47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Arial Black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John Abrahams</dc:creator>
  <cp:lastModifiedBy>John Abrahams</cp:lastModifiedBy>
  <cp:revision>6</cp:revision>
  <dcterms:created xsi:type="dcterms:W3CDTF">2026-03-01T22:27:57Z</dcterms:created>
  <dcterms:modified xsi:type="dcterms:W3CDTF">2026-03-02T11:23:14Z</dcterms:modified>
</cp:coreProperties>
</file>